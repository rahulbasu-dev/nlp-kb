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A1A2E"/>
                </a:solidFill>
              </a:defRPr>
            </a:pPr>
            <a:r>
              <a:t>HMM Forward-Backward Algorithm:</a:t>
            </a:r>
            <a:br/>
            <a: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666666"/>
                </a:solidFill>
              </a:defRPr>
            </a:pPr>
            <a:r>
              <a:t>A Complete Worked Example with the Weather/Umbrella HMM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846320"/>
            <a:ext cx="3017520" cy="25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Hidden states:  Rainy (R),  Sunny (S)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Observations:   Umbrella (U),  No-umbrella (N)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Observation sequence:  O = { U, N, U }   (3 time steps)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Goal: For each time step, compute the posterior probability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P(state | full observation sequence)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This requires BOTH the Forward AND Backward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HMM Parameters: Transition Matrix  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From \ To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HMM Parameters: Emission &amp; Initial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D47A1"/>
                </a:solidFill>
              </a:defRPr>
            </a:pPr>
            <a:r>
              <a:t>Emission Matrix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P(U | Rainy) = 0.9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P(N | Rainy) = 0.1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P(U | Sunny) = 0.2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P(N | Sunny) = 0.8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F9D58"/>
                </a:solidFill>
              </a:defRPr>
            </a:pPr>
            <a:r>
              <a:t>Initial Distribution 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P(Rainy) = 0.5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P(Sunny) = 0.5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(Equal prior over states)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Trellis Diagram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t=1 (U)          t=2 (N)          t=3 (U)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┌──┐             ┌──┐             ┌──┐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│ R│────────────►│ R│────────────►│ R│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└──┘╲           ╱└──┘╲           ╱└──┘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    ╲         ╱      ╲         ╱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     ╲       ╱        ╲       ╱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┌──┐   ╲   ╱   ┌──┐    ╲   ╱   ┌──┐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│ S│────────────►│ S│────────────►│ S│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└──┘             └──┘             └──┘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Each node stores forward (alpha) and backward (beta) values.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Combining them gives the posterior gamma_t(i).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Part 1: The Forward 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Algorithm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Init:       alpha_1(j) = pi_j  x  b_j(o_1)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Prior probability times emission at t=1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Recursion:  alpha_t(j) = [ SUM_i  alpha_{t-1}(i) x a_{ij} ]  x  b_j(o_t)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Sum contributions from ALL previous states, then multiply by emission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Termination:  P(O|lambda) = SUM_j  alpha_T(j)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Total observation probability = sum of final alpha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t=1: Initialization  (o_1 =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alpha_1(R) = pi(R)  x  b_R(U)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0.5    x  0.9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0.45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alpha_1(S) = pi(S)  x  b_S(U)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0.5    x  0.2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0.10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Check: alpha_1(R) + alpha_1(S) = 0.55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(Does not sum to 1 — these are joint probabilities, not conditionals)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t=2: Recursion  (o_2 =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alpha_2(R) = [ alpha_1(R) x a_RR  +  alpha_1(S) x a_SR ] x b_R(N)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[ 0.45 x 0.7  +  0.10 x 0.4 ] x 0.1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[ 0.315  +  0.04 ] x 0.1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0.355 x 0.1  =  0.0355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alpha_2(S) = [ alpha_1(R) x a_RS  +  alpha_1(S) x a_SS ] x b_S(N)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[ 0.45 x 0.3  +  0.10 x 0.6 ] x 0.8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[ 0.135  +  0.06 ] x 0.8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0.195 x 0.8  =  0.156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t=3: Recursion  (o_3 =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alpha_3(R) = [ alpha_2(R) x a_RR  +  alpha_2(S) x a_SR ] x b_R(U)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[ 0.0355 x 0.7  +  0.156 x 0.4 ] x 0.9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[ 0.02485  +  0.0624 ] x 0.9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0.08725 x 0.9  =  0.078525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alpha_3(S) = [ alpha_2(R) x a_RS  +  alpha_2(S) x a_SS ] x b_S(U)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[ 0.0355 x 0.3  +  0.156 x 0.6 ] x 0.2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[ 0.01065  +  0.0936 ] x 0.2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0.10425 x 0.2  =  0.02085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Termination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10972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D47A1"/>
                </a:solidFill>
              </a:defRPr>
            </a:pPr>
            <a:r>
              <a:t>P(O | lambda)  =  alpha_3(R) + alpha_3(S)  =  0.078525 + 0.02085  =  0.099375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This is the total probability of observing U, N, U under our HMM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We will use this as the normalizing constant for posterior probabilities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The Forward algorithm computed this in O(N^2 T) = O(4 x 3) = 12 multiplications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Brute force would need N^T = 2^3 = 8 full-length paths (grows exponentially!)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Forward Algorithm Summary:  alpha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t=1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t=2 (N)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t=3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0.078525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0.1560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0.020850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0.099375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Part 2: The Backward Algorithm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Algorithm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Init:       beta_T(i) = 1       for all states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Convention: backward values at the last time step are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Recursion:  beta_t(i) = SUM_j  a_{ij} x b_j(o_{t+1}) x beta_{t+1}(j)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Sum over all NEXT states: transition x emission x future backward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Check:      P(O|lambda) = SUM_j  pi_j x b_j(o_1) x beta_1(j)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Should equal the Forward termination result (consistency check)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t=3: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beta_3(R) = 1.0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beta_3(S) = 1.0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By convention, the backward probability at the final time step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is set to 1 for every state.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(There are no future observations to account for.)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t=2: Recursion  (o_3 =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beta_2(R) = a_RR x b_R(o_3) x beta_3(R)  +  a_RS x b_S(o_3) x beta_3(S)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0.7 x 0.9 x 1  +  0.3 x 0.2 x 1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0.63  +  0.06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0.69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beta_2(S) = a_SR x b_R(o_3) x beta_3(R)  +  a_SS x b_S(o_3) x beta_3(S)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0.4 x 0.9 x 1  +  0.6 x 0.2 x 1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0.36  +  0.12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t=1: Recursion  (o_2 =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beta_1(R) = a_RR x b_R(o_2) x beta_2(R)  +  a_RS x b_S(o_2) x beta_2(S)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0.7 x 0.1 x 0.69  +  0.3 x 0.8 x 0.48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0.0483  +  0.1152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0.1635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beta_1(S) = a_SR x b_R(o_2) x beta_2(R)  +  a_SS x b_S(o_2) x beta_2(S)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0.4 x 0.1 x 0.69  +  0.6 x 0.8 x 0.48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0.0276  +  0.2304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= 0.2580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Consistency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10972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D47A1"/>
                </a:solidFill>
              </a:defRPr>
            </a:pPr>
            <a:r>
              <a:t>P(O|lambda) = pi(R) x b_R(U) x beta_1(R)  +  pi(S) x b_S(U) x beta_1(S)</a:t>
            </a:r>
            <a:br/>
            <a:r>
              <a:t>            = 0.5 x 0.9 x 0.1635  +  0.5 x 0.2 x 0.2580</a:t>
            </a:r>
            <a:br/>
            <a:r>
              <a:t>            = 0.073575  +  0.025800  =  0.099375  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Matches the Forward termination result exactly!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This confirms both computations are correct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333333"/>
                </a:solidFill>
              </a:defRPr>
            </a:pPr>
            <a:r>
              <a:t>Forward and Backward give two independent ways to compute P(O|lambda)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Backward Algorithm Summary:  beta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t=1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t=2 (N)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t=3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0.2580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2E"/>
                </a:solidFill>
              </a:defRPr>
            </a:pPr>
            <a:r>
              <a:t>Part 3: Posterior Probabilities (gamma)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Posterior Probability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gamma_t(i) = P(q_t = i | O, lambda)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Probability of being in state i at time t, given ALL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0D47A1"/>
                </a:solidFill>
              </a:defRPr>
            </a:pPr>
            <a:r>
              <a:t>           = alpha_t(i) x beta_t(i)  /  P(O|lambda)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</a:defRPr>
            </a:pPr>
            <a:r>
              <a:t>Forward (past evidence) x Backward (future evidence) / normalizer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Gamma t=1:  Posterior at t=1  (o_1 =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gamma_1(R) = alpha_1(R) x beta_1(R)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0.45 x 0.1635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0.073575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0.7404  (74.0%)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gamma_1(S) = alpha_1(S) x beta_1(S)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0.10 x 0.2580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0.025800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0.2596  (26.0%)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Check: 0.7404 + 0.2596 = 1.0  ✓    →  Umbrella seen → likely Rainy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Gamma t=2:  Posterior at t=2  (o_2 =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gamma_2(R) = alpha_2(R) x beta_2(R)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0.0355 x 0.69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0.024495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0.2465  (24.7%)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gamma_2(S) = alpha_2(S) x beta_2(S)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0.156 x 0.48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0.074880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0.7535  (75.3%)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Check: 0.2465 + 0.7535 = 1.0  ✓    →  No umbrella → likely Sunny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Gamma t=3:  Posterior at t=3  (o_3 =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gamma_3(R) = alpha_3(R) x beta_3(R)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0.078525 x 1.0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0.078525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0.7902  (79.0%)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gamma_3(S) = alpha_3(S) x beta_3(S)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0.02085 x 1.0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0.02085 / 0.099375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        = 0.2098  (21.0%)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Check: 0.7902 + 0.2098 = 1.0  ✓    →  Umbrella seen → likely Rainy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Full Posterior Table:  gamma_t(i)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t=1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t=2 (N)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t=3 (U)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P(Rainy | 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0.7404 (74%)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0.2465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0.7902 (79%)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P(Sunny | 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0.2596 (26%)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0.7535 (75%)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0.2098 (21%)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Most likely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Sunny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D47A1"/>
                </a:solidFill>
              </a:defRPr>
            </a:pPr>
            <a:r>
              <a:t>What the Algorithm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Umbrella observed → high P(Rainy)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No umbrella → high P(Sunny)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The model correctly captures the intuitive weather pattern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Forward-Backward uses ALL observations (past AND future)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 i="0">
                <a:solidFill>
                  <a:srgbClr val="0F9D58"/>
                </a:solidFill>
              </a:defRPr>
            </a:pPr>
            <a:r>
              <a:t>Forward-Backward vs. Viterbi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Forward-Backward: marginal posteriors at each 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  → P(q_t = i | O)  for each state i, each time 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Viterbi: single BEST state sequence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  → argmax  P(q_1...q_T | O)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>
                <a:solidFill>
                  <a:srgbClr val="333333"/>
                </a:solidFill>
              </a:defRPr>
            </a:pPr>
            <a:r>
              <a:t>They can give different answers!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</a:defRPr>
            </a:pPr>
            <a:r>
              <a:t>Summary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1. Forward algorithm computes alpha_t(i) — probability of observations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o_1...o_t AND being in state i at time 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2. Backward algorithm computes beta_t(i) — probability of future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observations o_{t+1}...o_T given state i at time 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3. Combining: gamma_t(i) = alpha_t(i) x beta_t(i) / P(O|lambda)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gives the posterior probability of each state at each time step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4. Complexity: O(N^2 T) for both Forward and Backward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   (vs. O(N^T) brute force)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700">
                <a:solidFill>
                  <a:srgbClr val="333333"/>
                </a:solidFill>
              </a:defRPr>
            </a:pPr>
            <a:r>
              <a:t>5. Foundation for Baum-Welch (EM) parameter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