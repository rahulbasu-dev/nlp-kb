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1A1A2E"/>
                </a:solidFill>
              </a:defRPr>
            </a:pPr>
            <a:r>
              <a:t>Advanced POS Tagging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666666"/>
                </a:solidFill>
              </a:defRPr>
            </a:pPr>
            <a:r>
              <a:t>From the Forward Algorithm &amp; Viterbi</a:t>
            </a:r>
            <a:br/>
            <a:r>
              <a:t>Through MEMMs &amp; CRFs to Neural Taggers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846320"/>
            <a:ext cx="3017520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1. Beyond HMMs: Why We Need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POS Tagging Model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Rule-based: Hand-crafted rules (brittle but interpretable)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Statistical (HMM): Generative model, Viterbi decoding, ~95% accuracy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Discriminative (MEMM): Rich features, P(tags|words) directly, ~96%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Discriminative (CRF): Global normalization, solves label bias, ~97%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Neural (BiLSTM-CRF): Learned features + sequence optimization, ~97.5%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Pre-trained (BERT): Deep bidirectional context, ~98%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HMM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Independence assumption: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Observed word depends ONLY on current tag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Cannot use neighboring words, suffixes, word shape, etc.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Generative vs. Discriminative: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HMM models joint P(words, tags), but we only need P(tags|words)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Discriminative models are more direct and often more accurate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Limited context: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Standard HMMs: only bigram tag context (previous tag)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Cannot look at word two positions back or ahead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Analogy: Reading "bank" left-to-right vs. also seeing "...of the river"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2. The Forward Algorithm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Problem: Computing P(O|lambda)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10972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D47A1"/>
                </a:solidFill>
              </a:defRPr>
            </a:pPr>
            <a:r>
              <a:t>Given an HMM and an observation sequence, what is the total probability of seeing that sequence? The naive approach enumerates all N^T state sequences -- completely intractable!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Forward variable alpha_t(j) = P(o_1...o_t, q_t=j | 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Captures probability of seeing first t observations AND being in state j at time 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Dynamic programming: reuse intermediate results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Complexity: O(N^2 * T) instead of O(N^T)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Algorithm: Three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Init:  alpha_1(j) = pi_j * b_j(o_1)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Start prob x emission prob for each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Recursion:  alpha_t(j) = [SUM_i alpha_{t-1}(i) * a_ij] * b_j(o_t)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Sum over all previous states (key difference from Viterbi: SUM not MAX)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Termination:  P(O|lambda) = SUM_j alpha_T(j)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Total probability = sum of all forward variables at final time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Worked Example: Weather/Ice Cream HMM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States: Hot (H), Cold (C);  pi = [0.8, 0.2]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Transitions: a_HH=0.6, a_HC=0.4, a_CH=0.5, a_CC=0.5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Emissions: b_H(3)=0.4, b_C(3)=0.1, b_H(1)=0.2, b_C(1)=0.5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Observation: O = (3, 1, 3)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t=1: alpha_1(H)=0.8*0.4=0.32,  alpha_1(C)=0.2*0.1=0.02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t=2: alpha_2(H)=[0.32*0.6+0.02*0.5]*0.2=0.0404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alpha_2(C)=[0.32*0.4+0.02*0.5]*0.5=0.069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t=3: alpha_3(H)=[0.0404*0.6+0.069*0.5]*0.4=0.02350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alpha_3(C)=[0.0404*0.4+0.069*0.5]*0.1=0.00507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P(O|lambda) = 0.02350 + 0.00507 = 0.02856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3. Viterbi Decoding (Deep Dive)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vs. Viterbi: Sum vs. Max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D47A1"/>
                </a:solidFill>
              </a:defRPr>
            </a:pPr>
            <a:r>
              <a:t>Forward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Goal: P(O|lambda) -- total likelihood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Operation: SUM over all paths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No backtracking needed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Use: model evaluation, training (EM)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Complexity: O(N^2 * 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F9D58"/>
                </a:solidFill>
              </a:defRPr>
            </a:pPr>
            <a:r>
              <a:t>Viterbi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Goal: Best state sequence Q*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Operation: MAX over paths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Backpointers required for traceback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Use: decoding (actual tagging)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Complexity: O(N^2 * 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Viterbi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v_t(j) = max_i [v_{t-1}(i) * a_ij] * b_j(o_t)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Replace SUM with MAX -- find the single best incoming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bp_t(j) = argmax_i [v_{t-1}(i) * a_ij]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Record WHICH state gave the max (backpointer for traceback)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Log space: log v_t(j) = max_i [log v_{t-1}(i) + log a_ij] + log b_j(o_t)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Log space: multiplications become additions (prevents underflow)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Worked Example: Viterbi on O=(3,1,3)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Same HMM as Forward Algorithm example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t=1: v_1(H)=0.32,  v_1(C)=0.02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t=2: v_2(H)=max(0.32*0.6, 0.02*0.5)*0.2 = 0.192*0.2 = 0.0384, bp=H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v_2(C)=max(0.32*0.4, 0.02*0.5)*0.5 = 0.128*0.5 = 0.064, bp=H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t=3: v_3(H)=max(0.0384*0.6, 0.064*0.5)*0.4 = 0.032*0.4 = 0.0128, bp=C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v_3(C)=max(0.0384*0.4, 0.064*0.5)*0.1 = 0.032*0.1 = 0.0032, bp=C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Best final state: H (0.0128 &gt; 0.0032)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Backtrace: H &lt;- C &lt;- 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Best path: H -&gt; C -&gt; 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Warning: Greedy (most likely at each step) may differ from Viterbi (globally optimal)!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4. Maximum Entropy Markov Models (MEMMs)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Generative vs. Discriminative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D47A1"/>
                </a:solidFill>
              </a:defRPr>
            </a:pPr>
            <a:r>
              <a:t>Generative (HMM)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Models: P(words, tags)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Features: Only word identity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Independence: Words independent given tags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Training: Count-based (MLE)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Unknown words: Smoothing hacks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F9D58"/>
                </a:solidFill>
              </a:defRPr>
            </a:pPr>
            <a:r>
              <a:t>Discriminative (MEMM)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Models: P(tags | words) directly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Features: Arbitrary (suffixes, shape, neighbors)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No independence assumption needed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Training: Logistic regression / MaxEnt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Unknown words: Handled by features naturally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MEMM: Local Classifier at Each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P(t_i | t_{i-1}, o) = softmax(w . f(t_i, t_{i-1}, o))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Softmax (maximum entropy) classifier at each 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= exp(w . f(t_i, t_{i-1}, o)) / SUM_{t'} exp(w . f(t', t_{i-1}, o))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f is a feature vector, w is learned weights. Normalization is LOCAL (per position)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MEMM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The power of MEMMs: rich, arbitrary features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Common POS tagging features: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Current word: w_i = 'running'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Previous tag: t_{i-1} = VBD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Suffixes: -ing, -ed, -ly, -tion, -ness, -able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Prefixes: un-, re-, pre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Word shape: Xx (capitalized), XXXX (all caps)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Capitalization: is_capitalized, is_all_caps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Neighboring words: w_{i-1}, w_{i+1}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Contains digit, hyphen, etc.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Example: "running" with prev_tag=VBD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suffix=-ing &amp; tag=VBG -&gt; 1;  prev_tag=VBD &amp; tag=VBG -&gt;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The Label Bias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Critical flaw of MEMMs: LABEL BIAS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Because normalization is LOCAL (per state), states with few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outgoing transitions effectively IGNORE observations.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Example: A state that can only transition to one other state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No matter what word is observed, 100% of probability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mass goes to that single successor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The observation is completely ignored!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Root cause: local normalization forces probabilities to sum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to 1 at each state, regardless of what is observed.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Solution: CRFs with GLOBAL normalization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5. Bidirectionality &amp; CRFs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Why Left-to-Right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Right context resolves many ambiguities: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"The lead paint was dangerous" -- "lead" is JJ, but only "paint" tells us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"Please record the results" vs. "This is a record" -- next word disambiguates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"The old man the boats" -- only "the boats" reveals "man" is a verb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Bidirectional approach: run forward AND backward, combine at each position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Conditional Random Fields (CRFs)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P(y|x) = (1/Z(x)) * exp(SUM_t SUM_k lambda_k * f_k(y_t, y_{t-1}, x, 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GLOBAL normalization over the entire sequence (not per-state)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Z(x) = SUM_{y'} exp(SUM_t SUM_k lambda_k * f_k(y'_t, y'_{t-1}, x, t))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Z(x) = partition function sums over ALL possible tag sequences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HMM vs. MEMM vs. CRF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HMM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MEMM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CRF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Generative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Discriminative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Discriminative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P(x, 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P(y_t|y_{t-1}, x)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P(y|x)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Global (generative)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Local (per state)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Global (over seq)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Rich, arbitrary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Rich, arbitrary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Label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 (problem!)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6. Neural Network Taggers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From Handcrafted Features to Learned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Word embeddings as input: dense vectors capturing semantic/syntactic properties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Window-based feedforward tagger: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Concatenate embeddings of target + neighbors (e.g., 5-word window)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Feed into feedforward network, predict tag with softmax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Simple but limited by fixed window size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BiLSTM Tagger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h_t^f = LSTM_forward(x_t, h_{t-1}^f)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Forward LSTM reads left-to-right, encoding left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h_t^b = LSTM_backward(x_t, h_{t+1}^b)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Backward LSTM reads right-to-left, encoding right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y_t = softmax(W * [h_t^f ; h_t^b] + 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Concatenated hidden states capture FULL bidirectional context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BiLSTM-CRF: Best of Both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BiLSTM-CRF combines: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BiLSTM: Learns rich contextual representations automatically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CRF layer: Enforces valid tag transitions, optimizes whole sequence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The CRF uses BiLSTM outputs as emission scores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and learns transition scores between tags.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Decoding uses Viterbi over these combined scores.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Transformer-based taggers (BERT):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Self-attention: each word attends to ALL other words simultaneously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Pre-trained on massive corpora, fine-tune for POS tagging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Simply add linear classification layer on top of BERT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Performance Comparison (Penn Treebank)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Innovation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1960s-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Probabilistic sequence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MEMM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~96.0%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Discriminative + rich features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Global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BiLSTM-CRF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~97.5%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Learned features + seq opt.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Pre-trained deep bidirectional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7. References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[1] Jurafsky &amp; Martin (2024) - Speech and Language Processing, Ch. 8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HMM, Forward Algorithm, Viterbi, CRFs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[2] McCallum, Freitag &amp; Pereira (2000) - Maximum Entropy Markov Models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for Information Extraction and Segmentation (ICML)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[3] Lafferty, McCallum &amp; Pereira (2001) - Conditional Random Fields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Probabilistic Models for Segmenting and Labeling (ICML)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[4] Huang, Xu &amp; Yu (2015) - Bidirectional LSTM-CRF Models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for Sequence Tagging (arXiv:1508.01991)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[5] Devlin et al. (2019) - BERT: Pre-training of Deep Bidirectional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Transformers for Language Understanding (NAACL-HLT)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[6] Akbik, Blythe &amp; Vollgraf (2018) - Contextual String Embeddings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for Sequence Labeling (COLING)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